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ab43c8c5-e2a5-15ab-284e-ef2f3f43e365}">
          <p14:sldIdLst>
            <p14:sldId id="256"/>
            <p14:sldId id="257"/>
            <p14:sldId id="258"/>
            <p14:sldId id="259"/>
          </p14:sldIdLst>
        </p14:section>
        <p14:section name="Topic 1" id="{564f8f73-7d69-2df7-aa75-328a86691b60}">
          <p14:sldIdLst>
            <p14:sldId id="260"/>
            <p14:sldId id="261"/>
          </p14:sldIdLst>
        </p14:section>
        <p14:section name="Topic 2" id="{b30dc751-b17a-4abf-4544-836170e38b93}">
          <p14:sldIdLst>
            <p14:sldId id="262"/>
            <p14:sldId id="263"/>
          </p14:sldIdLst>
        </p14:section>
        <p14:section name="Topic 3" id="{7e7bd043-31d1-da25-534d-db684f25e8b4}">
          <p14:sldIdLst>
            <p14:sldId id="264"/>
            <p14:sldId id="265"/>
          </p14:sldIdLst>
        </p14:section>
        <p14:section name="Topic 4" id="{6d866ab6-705a-2fd6-aff2-1d448581bdbf}">
          <p14:sldIdLst>
            <p14:sldId id="266"/>
            <p14:sldId id="267"/>
          </p14:sldIdLst>
        </p14:section>
        <p14:section name="Close" id="{98943c7c-ba60-2192-7bac-2f42d65df6e5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Housekeeping: the session is recorded, use the chat, Q&amp;A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speaker introduces themselves: role, company, and what they've built with AI inside agencies.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tone: a candid conversation, not a sales pitch.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four topics. Q&amp;A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1: what's live and paying off versus what's stalled.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Discussion: concrete examples of AI in production at agencies, and the projects that stalled.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2: what's shifting, and what's staying the same.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Discussion: changes across search, client demand and delivery. Call out what hasn't changed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3: the shape of the agency in five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Discussion: team structure, headcount and service mix five years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4: common mistakes and where to focus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Discussion: mistakes you see agency owners making, and the practical alternative.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floor. Read questions from the chat.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attendees and speakers. Mention the recording will be shared.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LE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CONTENT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SPLIT-image-2.jpe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DIVIDER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/f0b8d7e9-8864-5767-a36d-0d6d052ee69f/scratchpad/deck2/assets/logo_cl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6172200"/>
            <a:ext cx="640080" cy="53492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02920"/>
            <a:ext cx="104241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PLI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/f0b8d7e9-8864-5767-a36d-0d6d052ee69f/scratchpad/deck2/assets/logo_cl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6172200"/>
            <a:ext cx="640080" cy="53492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120640" y="1188720"/>
            <a:ext cx="643097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/f0b8d7e9-8864-5767-a36d-0d6d052ee69f/scratchpad/deck2/assets/logo_cl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6172200"/>
            <a:ext cx="640080" cy="53492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120640" y="2377440"/>
            <a:ext cx="6430975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hyperlink" Target="https://hennessey.com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7772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chemeClr val="accent1"/>
                </a:solidFill>
              </a:rPr>
              <a:t>LIVE WEBINAR</a:t>
            </a:r>
            <a:endParaRPr lang="en-US" sz="1300" dirty="0"/>
          </a:p>
        </p:txBody>
      </p:sp>
      <p:sp>
        <p:nvSpPr>
          <p:cNvPr id="3" name="Title line 1"/>
          <p:cNvSpPr txBox="1"/>
          <p:nvPr/>
        </p:nvSpPr>
        <p:spPr>
          <a:xfrm>
            <a:off x="685800" y="12801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spc="600" kern="0" dirty="0">
                <a:solidFill>
                  <a:schemeClr val="bg1"/>
                </a:solidFill>
              </a:rPr>
              <a:t>AI AND THE</a:t>
            </a:r>
            <a:endParaRPr lang="en-US" sz="3000" dirty="0"/>
          </a:p>
        </p:txBody>
      </p:sp>
      <p:sp>
        <p:nvSpPr>
          <p:cNvPr id="4" name="Title line 2"/>
          <p:cNvSpPr txBox="1"/>
          <p:nvPr/>
        </p:nvSpPr>
        <p:spPr>
          <a:xfrm>
            <a:off x="640080" y="169164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b="1" dirty="0">
                <a:solidFill>
                  <a:schemeClr val="bg1"/>
                </a:solidFill>
              </a:rPr>
              <a:t>AGENCY</a:t>
            </a:r>
            <a:endParaRPr lang="en-US" sz="9200" dirty="0"/>
          </a:p>
        </p:txBody>
      </p:sp>
      <p:sp>
        <p:nvSpPr>
          <p:cNvPr id="5" name="Title line 3"/>
          <p:cNvSpPr txBox="1"/>
          <p:nvPr/>
        </p:nvSpPr>
        <p:spPr>
          <a:xfrm>
            <a:off x="685800" y="28803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spc="600" kern="0" dirty="0">
                <a:solidFill>
                  <a:schemeClr val="accent1"/>
                </a:solidFill>
              </a:rPr>
              <a:t>OF THE FUTURE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7490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chemeClr val="bg2"/>
                </a:solidFill>
              </a:rPr>
              <a:t>What’s deployed, what’s paying off, and what the agency of the future looks like from the inside.</a:t>
            </a:r>
            <a:endParaRPr lang="en-US" sz="1600" dirty="0"/>
          </a:p>
        </p:txBody>
      </p:sp>
      <p:sp>
        <p:nvSpPr>
          <p:cNvPr id="7" name="Date badge"/>
          <p:cNvSpPr/>
          <p:nvPr/>
        </p:nvSpPr>
        <p:spPr>
          <a:xfrm>
            <a:off x="685800" y="4846320"/>
            <a:ext cx="603504" cy="60350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8" name="Dat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711" y="5003231"/>
            <a:ext cx="289682" cy="28968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08760" y="4800600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chemeClr val="bg1"/>
                </a:solidFill>
              </a:rPr>
              <a:t>Thursday, November 5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chemeClr val="accent1"/>
                </a:solidFill>
              </a:rPr>
              <a:t>12:00 PM EST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bg2"/>
                </a:solidFill>
              </a:rPr>
              <a:t>   ·   9:00 AM PST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59893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bg2"/>
                </a:solidFill>
              </a:rPr>
              <a:t>WEBINAR FOR  </a:t>
            </a:r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HENNESSEY DIGITAL</a:t>
            </a:r>
            <a:endParaRPr lang="en-US" sz="1100" dirty="0"/>
          </a:p>
        </p:txBody>
      </p:sp>
      <p:pic>
        <p:nvPicPr>
          <p:cNvPr id="11" name="Dan Hinckley photo" descr="Dan Hinckl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548640"/>
            <a:ext cx="3017520" cy="3017520"/>
          </a:xfrm>
          <a:prstGeom prst="rect">
            <a:avLst/>
          </a:prstGeom>
        </p:spPr>
      </p:pic>
      <p:sp>
        <p:nvSpPr>
          <p:cNvPr id="12" name="Dan Hinckley label"/>
          <p:cNvSpPr txBox="1"/>
          <p:nvPr/>
        </p:nvSpPr>
        <p:spPr>
          <a:xfrm>
            <a:off x="9600468" y="16916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bg1"/>
                </a:solidFill>
              </a:rPr>
              <a:t>Dan Hinckley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1"/>
                </a:solidFill>
              </a:rPr>
              <a:t>Herringbone</a:t>
            </a:r>
            <a:endParaRPr lang="en-US" sz="2000" dirty="0"/>
          </a:p>
        </p:txBody>
      </p:sp>
      <p:pic>
        <p:nvPicPr>
          <p:cNvPr id="13" name="Rob Coleman photo" descr="Rob Cole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3291840"/>
            <a:ext cx="3017520" cy="3017520"/>
          </a:xfrm>
          <a:prstGeom prst="rect">
            <a:avLst/>
          </a:prstGeom>
        </p:spPr>
      </p:pic>
      <p:sp>
        <p:nvSpPr>
          <p:cNvPr id="14" name="Rob Coleman label"/>
          <p:cNvSpPr txBox="1"/>
          <p:nvPr/>
        </p:nvSpPr>
        <p:spPr>
          <a:xfrm>
            <a:off x="6401532" y="4434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bg1"/>
                </a:solidFill>
              </a:rPr>
              <a:t>Rob Coleman</a:t>
            </a:r>
            <a:endParaRPr lang="en-US" sz="20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1"/>
                </a:solidFill>
              </a:rPr>
              <a:t>Hennessey Digital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502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accent1"/>
                </a:solidFill>
              </a:rPr>
              <a:t>Your Speakers</a:t>
            </a:r>
            <a:endParaRPr lang="en-US" sz="3400" dirty="0"/>
          </a:p>
        </p:txBody>
      </p:sp>
      <p:pic>
        <p:nvPicPr>
          <p:cNvPr id="3" name="Dan Hinckley photo" descr="Dan Hinckl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37360"/>
            <a:ext cx="2834640" cy="2834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794760" y="26517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Dan Hinckley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3794760" y="3566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</a:rPr>
              <a:t>Herringbone</a:t>
            </a:r>
            <a:endParaRPr lang="en-US" sz="1700" dirty="0"/>
          </a:p>
        </p:txBody>
      </p:sp>
      <p:pic>
        <p:nvPicPr>
          <p:cNvPr id="6" name="Rob Coleman photo" descr="Rob Cole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2834640" cy="28346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372600" y="26517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Rob Coleman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9372600" y="3566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</a:rPr>
              <a:t>Hennessey Digital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5120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Two people who build this for a living, talking through what they’re seeing with real clients and real teams.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rt panel" descr="/tmp/claude-0/-home-user/f0b8d7e9-8864-5767-a36d-0d6d052ee69f/scratchpad/deck2/assets/panel_netwo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120640" y="1188720"/>
            <a:ext cx="64309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dirty="0">
                <a:solidFill>
                  <a:schemeClr val="accent1"/>
                </a:solidFill>
              </a:rPr>
              <a:t>Every agency owner is being told AI changes everything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120640" y="3017520"/>
            <a:ext cx="6430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Few have heard from anyone who’s actually run that change inside a real agency.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120640" y="4114800"/>
            <a:ext cx="64309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chemeClr val="bg1"/>
                </a:solidFill>
              </a:rPr>
              <a:t>No pitch. No hype cycle. 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chemeClr val="bg2"/>
                </a:solidFill>
              </a:rPr>
              <a:t>Just what’s deployed, what’s paying off, and what the agency of the future looks like from the inside.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rt panel" descr="/tmp/claude-0/-home-user/f0b8d7e9-8864-5767-a36d-0d6d052ee69f/scratchpad/deck2/assets/panel_path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120640" y="1188720"/>
            <a:ext cx="64309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dirty="0">
                <a:solidFill>
                  <a:schemeClr val="accent1"/>
                </a:solidFill>
              </a:rPr>
              <a:t>What We’ll Cover</a:t>
            </a:r>
            <a:endParaRPr lang="en-US" sz="3200" dirty="0"/>
          </a:p>
        </p:txBody>
      </p:sp>
      <p:sp>
        <p:nvSpPr>
          <p:cNvPr id="4" name="Topic 1 badge"/>
          <p:cNvSpPr/>
          <p:nvPr/>
        </p:nvSpPr>
        <p:spPr>
          <a:xfrm>
            <a:off x="5120640" y="297180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12064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897880" y="2926080"/>
            <a:ext cx="5608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Where AI is actually deployed inside agencies today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and where it’s stalled out</a:t>
            </a:r>
            <a:endParaRPr lang="en-US" sz="1700" dirty="0"/>
          </a:p>
        </p:txBody>
      </p:sp>
      <p:sp>
        <p:nvSpPr>
          <p:cNvPr id="7" name="Topic 2 badge"/>
          <p:cNvSpPr/>
          <p:nvPr/>
        </p:nvSpPr>
        <p:spPr>
          <a:xfrm>
            <a:off x="5120640" y="384048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12064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5897880" y="3794760"/>
            <a:ext cx="5608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What’s changing in search, client demand and service delivery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and what isn’t</a:t>
            </a:r>
            <a:endParaRPr lang="en-US" sz="1700" dirty="0"/>
          </a:p>
        </p:txBody>
      </p:sp>
      <p:sp>
        <p:nvSpPr>
          <p:cNvPr id="10" name="Topic 3 badge"/>
          <p:cNvSpPr/>
          <p:nvPr/>
        </p:nvSpPr>
        <p:spPr>
          <a:xfrm>
            <a:off x="5120640" y="470916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120640" y="4709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897880" y="4663440"/>
            <a:ext cx="5608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What the agency of the future looks like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team structure, headcount, service mix</a:t>
            </a:r>
            <a:endParaRPr lang="en-US" sz="1700" dirty="0"/>
          </a:p>
        </p:txBody>
      </p:sp>
      <p:sp>
        <p:nvSpPr>
          <p:cNvPr id="13" name="Topic 4 badge"/>
          <p:cNvSpPr/>
          <p:nvPr/>
        </p:nvSpPr>
        <p:spPr>
          <a:xfrm>
            <a:off x="5120640" y="557784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120640" y="5577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897880" y="5532120"/>
            <a:ext cx="5608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What agency owners get wrong about AI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and what to focus on instead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rt panel" descr="/tmp/claude-0/-home-user/f0b8d7e9-8864-5767-a36d-0d6d052ee69f/scratchpad/deck2/assets/panel_ba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2064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1"/>
                </a:solidFill>
              </a:rPr>
              <a:t>TOPIC 01</a:t>
            </a:r>
            <a:endParaRPr lang="en-US" sz="16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120640" y="2377440"/>
            <a:ext cx="64309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Where AI Is Actually Deployed Inside Agencies Today</a:t>
            </a:r>
            <a:endParaRPr lang="en-US" sz="4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502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accent1"/>
                </a:solidFill>
              </a:rPr>
              <a:t>Deployed vs. Stalled Out</a:t>
            </a:r>
            <a:endParaRPr lang="en-US" sz="3400" dirty="0"/>
          </a:p>
        </p:txBody>
      </p:sp>
      <p:sp>
        <p:nvSpPr>
          <p:cNvPr id="3" name="Deployed and paying off card"/>
          <p:cNvSpPr/>
          <p:nvPr/>
        </p:nvSpPr>
        <p:spPr>
          <a:xfrm>
            <a:off x="548640" y="2011680"/>
            <a:ext cx="5410048" cy="3200400"/>
          </a:xfrm>
          <a:prstGeom prst="roundRect">
            <a:avLst>
              <a:gd name="adj" fmla="val 2286"/>
            </a:avLst>
          </a:prstGeom>
          <a:solidFill>
            <a:schemeClr val="accent2"/>
          </a:solidFill>
          <a:ln/>
        </p:spPr>
      </p:sp>
      <p:sp>
        <p:nvSpPr>
          <p:cNvPr id="4" name="Deployed and paying off badge"/>
          <p:cNvSpPr/>
          <p:nvPr/>
        </p:nvSpPr>
        <p:spPr>
          <a:xfrm>
            <a:off x="914400" y="23774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Deployed and paying off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257" y="2603297"/>
            <a:ext cx="416966" cy="416966"/>
          </a:xfrm>
          <a:prstGeom prst="rect">
            <a:avLst/>
          </a:prstGeom>
        </p:spPr>
      </p:pic>
      <p:sp>
        <p:nvSpPr>
          <p:cNvPr id="6" name="Deployed and paying off heading"/>
          <p:cNvSpPr txBox="1"/>
          <p:nvPr/>
        </p:nvSpPr>
        <p:spPr>
          <a:xfrm>
            <a:off x="914400" y="342900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Deployed and paying off</a:t>
            </a:r>
            <a:endParaRPr lang="en-US" sz="2200" dirty="0"/>
          </a:p>
        </p:txBody>
      </p:sp>
      <p:sp>
        <p:nvSpPr>
          <p:cNvPr id="7" name="Deployed and paying off prompt"/>
          <p:cNvSpPr txBox="1"/>
          <p:nvPr/>
        </p:nvSpPr>
        <p:spPr>
          <a:xfrm>
            <a:off x="914400" y="3977640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Which AI workflows are running inside real agencies today, and where are they earning their keep?</a:t>
            </a:r>
            <a:endParaRPr lang="en-US" sz="1600" dirty="0"/>
          </a:p>
        </p:txBody>
      </p:sp>
      <p:sp>
        <p:nvSpPr>
          <p:cNvPr id="8" name="Stalled out card"/>
          <p:cNvSpPr/>
          <p:nvPr/>
        </p:nvSpPr>
        <p:spPr>
          <a:xfrm>
            <a:off x="6233008" y="2011680"/>
            <a:ext cx="5410048" cy="3200400"/>
          </a:xfrm>
          <a:prstGeom prst="roundRect">
            <a:avLst>
              <a:gd name="adj" fmla="val 2286"/>
            </a:avLst>
          </a:prstGeom>
          <a:solidFill>
            <a:schemeClr val="accent2"/>
          </a:solidFill>
          <a:ln/>
        </p:spPr>
      </p:sp>
      <p:sp>
        <p:nvSpPr>
          <p:cNvPr id="9" name="Stalled out badge"/>
          <p:cNvSpPr/>
          <p:nvPr/>
        </p:nvSpPr>
        <p:spPr>
          <a:xfrm>
            <a:off x="6598768" y="23774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Stalled ou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4624" y="2603297"/>
            <a:ext cx="416966" cy="416966"/>
          </a:xfrm>
          <a:prstGeom prst="rect">
            <a:avLst/>
          </a:prstGeom>
        </p:spPr>
      </p:pic>
      <p:sp>
        <p:nvSpPr>
          <p:cNvPr id="11" name="Stalled out heading"/>
          <p:cNvSpPr txBox="1"/>
          <p:nvPr/>
        </p:nvSpPr>
        <p:spPr>
          <a:xfrm>
            <a:off x="6598768" y="342900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Stalled out</a:t>
            </a:r>
            <a:endParaRPr lang="en-US" sz="2200" dirty="0"/>
          </a:p>
        </p:txBody>
      </p:sp>
      <p:sp>
        <p:nvSpPr>
          <p:cNvPr id="12" name="Stalled out prompt"/>
          <p:cNvSpPr txBox="1"/>
          <p:nvPr/>
        </p:nvSpPr>
        <p:spPr>
          <a:xfrm>
            <a:off x="6598768" y="3977640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Where have AI rollouts stalled, and what’s holding them back?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rt panel" descr="/tmp/claude-0/-home-user/f0b8d7e9-8864-5767-a36d-0d6d052ee69f/scratchpad/deck2/assets/panel_wa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2064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1"/>
                </a:solidFill>
              </a:rPr>
              <a:t>TOPIC 02</a:t>
            </a:r>
            <a:endParaRPr lang="en-US" sz="16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120640" y="2377440"/>
            <a:ext cx="64309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What’s Changing in Search, Client Demand and Service Delivery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502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accent1"/>
                </a:solidFill>
              </a:rPr>
              <a:t>What’s Changing, and What Isn’t</a:t>
            </a:r>
            <a:endParaRPr lang="en-US" sz="3400" dirty="0"/>
          </a:p>
        </p:txBody>
      </p:sp>
      <p:sp>
        <p:nvSpPr>
          <p:cNvPr id="3" name="Search card"/>
          <p:cNvSpPr/>
          <p:nvPr/>
        </p:nvSpPr>
        <p:spPr>
          <a:xfrm>
            <a:off x="548640" y="2011680"/>
            <a:ext cx="3515258" cy="3200400"/>
          </a:xfrm>
          <a:prstGeom prst="roundRect">
            <a:avLst>
              <a:gd name="adj" fmla="val 2286"/>
            </a:avLst>
          </a:prstGeom>
          <a:solidFill>
            <a:schemeClr val="accent2"/>
          </a:solidFill>
          <a:ln/>
        </p:spPr>
      </p:sp>
      <p:sp>
        <p:nvSpPr>
          <p:cNvPr id="4" name="Search badge"/>
          <p:cNvSpPr/>
          <p:nvPr/>
        </p:nvSpPr>
        <p:spPr>
          <a:xfrm>
            <a:off x="914400" y="23774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Search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257" y="2603297"/>
            <a:ext cx="416966" cy="416966"/>
          </a:xfrm>
          <a:prstGeom prst="rect">
            <a:avLst/>
          </a:prstGeom>
        </p:spPr>
      </p:pic>
      <p:sp>
        <p:nvSpPr>
          <p:cNvPr id="6" name="Search heading"/>
          <p:cNvSpPr txBox="1"/>
          <p:nvPr/>
        </p:nvSpPr>
        <p:spPr>
          <a:xfrm>
            <a:off x="914400" y="342900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Search</a:t>
            </a:r>
            <a:endParaRPr lang="en-US" sz="2200" dirty="0"/>
          </a:p>
        </p:txBody>
      </p:sp>
      <p:sp>
        <p:nvSpPr>
          <p:cNvPr id="7" name="Search prompt"/>
          <p:cNvSpPr txBox="1"/>
          <p:nvPr/>
        </p:nvSpPr>
        <p:spPr>
          <a:xfrm>
            <a:off x="914400" y="397764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How is AI reshaping how clients’ customers search and find them?</a:t>
            </a:r>
            <a:endParaRPr lang="en-US" sz="1600" dirty="0"/>
          </a:p>
        </p:txBody>
      </p:sp>
      <p:sp>
        <p:nvSpPr>
          <p:cNvPr id="8" name="Client demand card"/>
          <p:cNvSpPr/>
          <p:nvPr/>
        </p:nvSpPr>
        <p:spPr>
          <a:xfrm>
            <a:off x="4338218" y="2011680"/>
            <a:ext cx="3515258" cy="3200400"/>
          </a:xfrm>
          <a:prstGeom prst="roundRect">
            <a:avLst>
              <a:gd name="adj" fmla="val 2286"/>
            </a:avLst>
          </a:prstGeom>
          <a:solidFill>
            <a:schemeClr val="accent2"/>
          </a:solidFill>
          <a:ln/>
        </p:spPr>
      </p:sp>
      <p:sp>
        <p:nvSpPr>
          <p:cNvPr id="9" name="Client demand badge"/>
          <p:cNvSpPr/>
          <p:nvPr/>
        </p:nvSpPr>
        <p:spPr>
          <a:xfrm>
            <a:off x="4703978" y="23774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Client deman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835" y="2603297"/>
            <a:ext cx="416966" cy="416966"/>
          </a:xfrm>
          <a:prstGeom prst="rect">
            <a:avLst/>
          </a:prstGeom>
        </p:spPr>
      </p:pic>
      <p:sp>
        <p:nvSpPr>
          <p:cNvPr id="11" name="Client demand heading"/>
          <p:cNvSpPr txBox="1"/>
          <p:nvPr/>
        </p:nvSpPr>
        <p:spPr>
          <a:xfrm>
            <a:off x="4703978" y="342900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Client demand</a:t>
            </a:r>
            <a:endParaRPr lang="en-US" sz="2200" dirty="0"/>
          </a:p>
        </p:txBody>
      </p:sp>
      <p:sp>
        <p:nvSpPr>
          <p:cNvPr id="12" name="Client demand prompt"/>
          <p:cNvSpPr txBox="1"/>
          <p:nvPr/>
        </p:nvSpPr>
        <p:spPr>
          <a:xfrm>
            <a:off x="4703978" y="397764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What are clients asking agencies for now that they weren’t a year ago?</a:t>
            </a:r>
            <a:endParaRPr lang="en-US" sz="1600" dirty="0"/>
          </a:p>
        </p:txBody>
      </p:sp>
      <p:sp>
        <p:nvSpPr>
          <p:cNvPr id="13" name="Service delivery card"/>
          <p:cNvSpPr/>
          <p:nvPr/>
        </p:nvSpPr>
        <p:spPr>
          <a:xfrm>
            <a:off x="8127797" y="2011680"/>
            <a:ext cx="3515258" cy="3200400"/>
          </a:xfrm>
          <a:prstGeom prst="roundRect">
            <a:avLst>
              <a:gd name="adj" fmla="val 2286"/>
            </a:avLst>
          </a:prstGeom>
          <a:solidFill>
            <a:schemeClr val="accent2"/>
          </a:solidFill>
          <a:ln/>
        </p:spPr>
      </p:sp>
      <p:sp>
        <p:nvSpPr>
          <p:cNvPr id="14" name="Service delivery badge"/>
          <p:cNvSpPr/>
          <p:nvPr/>
        </p:nvSpPr>
        <p:spPr>
          <a:xfrm>
            <a:off x="8493557" y="23774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Service delivery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9414" y="2603297"/>
            <a:ext cx="416966" cy="416966"/>
          </a:xfrm>
          <a:prstGeom prst="rect">
            <a:avLst/>
          </a:prstGeom>
        </p:spPr>
      </p:pic>
      <p:sp>
        <p:nvSpPr>
          <p:cNvPr id="16" name="Service delivery heading"/>
          <p:cNvSpPr txBox="1"/>
          <p:nvPr/>
        </p:nvSpPr>
        <p:spPr>
          <a:xfrm>
            <a:off x="8493557" y="342900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Service delivery</a:t>
            </a:r>
            <a:endParaRPr lang="en-US" sz="2200" dirty="0"/>
          </a:p>
        </p:txBody>
      </p:sp>
      <p:sp>
        <p:nvSpPr>
          <p:cNvPr id="17" name="Service delivery prompt"/>
          <p:cNvSpPr txBox="1"/>
          <p:nvPr/>
        </p:nvSpPr>
        <p:spPr>
          <a:xfrm>
            <a:off x="8493557" y="397764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How is the work itself getting done differently, and what still needs people?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rt panel" descr="/tmp/claude-0/-home-user/f0b8d7e9-8864-5767-a36d-0d6d052ee69f/scratchpad/deck2/assets/panel_gri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2064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1"/>
                </a:solidFill>
              </a:rPr>
              <a:t>TOPIC 03</a:t>
            </a:r>
            <a:endParaRPr lang="en-US" sz="16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120640" y="2377440"/>
            <a:ext cx="64309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What the Agency of the Future Looks Like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502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accent1"/>
                </a:solidFill>
              </a:rPr>
              <a:t>The Agency of the Future, From the Inside</a:t>
            </a:r>
            <a:endParaRPr lang="en-US" sz="3400" dirty="0"/>
          </a:p>
        </p:txBody>
      </p:sp>
      <p:sp>
        <p:nvSpPr>
          <p:cNvPr id="3" name="Team structure card"/>
          <p:cNvSpPr/>
          <p:nvPr/>
        </p:nvSpPr>
        <p:spPr>
          <a:xfrm>
            <a:off x="548640" y="2011680"/>
            <a:ext cx="3515258" cy="3200400"/>
          </a:xfrm>
          <a:prstGeom prst="roundRect">
            <a:avLst>
              <a:gd name="adj" fmla="val 2286"/>
            </a:avLst>
          </a:prstGeom>
          <a:solidFill>
            <a:schemeClr val="accent2"/>
          </a:solidFill>
          <a:ln/>
        </p:spPr>
      </p:sp>
      <p:sp>
        <p:nvSpPr>
          <p:cNvPr id="4" name="Team structure badge"/>
          <p:cNvSpPr/>
          <p:nvPr/>
        </p:nvSpPr>
        <p:spPr>
          <a:xfrm>
            <a:off x="914400" y="23774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Team structur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257" y="2603297"/>
            <a:ext cx="416966" cy="416966"/>
          </a:xfrm>
          <a:prstGeom prst="rect">
            <a:avLst/>
          </a:prstGeom>
        </p:spPr>
      </p:pic>
      <p:sp>
        <p:nvSpPr>
          <p:cNvPr id="6" name="Team structure heading"/>
          <p:cNvSpPr txBox="1"/>
          <p:nvPr/>
        </p:nvSpPr>
        <p:spPr>
          <a:xfrm>
            <a:off x="914400" y="342900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Team structure</a:t>
            </a:r>
            <a:endParaRPr lang="en-US" sz="2200" dirty="0"/>
          </a:p>
        </p:txBody>
      </p:sp>
      <p:sp>
        <p:nvSpPr>
          <p:cNvPr id="7" name="Team structure prompt"/>
          <p:cNvSpPr txBox="1"/>
          <p:nvPr/>
        </p:nvSpPr>
        <p:spPr>
          <a:xfrm>
            <a:off x="914400" y="397764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How do roles and reporting lines change when AI is part of the team?</a:t>
            </a:r>
            <a:endParaRPr lang="en-US" sz="1600" dirty="0"/>
          </a:p>
        </p:txBody>
      </p:sp>
      <p:sp>
        <p:nvSpPr>
          <p:cNvPr id="8" name="Headcount card"/>
          <p:cNvSpPr/>
          <p:nvPr/>
        </p:nvSpPr>
        <p:spPr>
          <a:xfrm>
            <a:off x="4338218" y="2011680"/>
            <a:ext cx="3515258" cy="3200400"/>
          </a:xfrm>
          <a:prstGeom prst="roundRect">
            <a:avLst>
              <a:gd name="adj" fmla="val 2286"/>
            </a:avLst>
          </a:prstGeom>
          <a:solidFill>
            <a:schemeClr val="accent2"/>
          </a:solidFill>
          <a:ln/>
        </p:spPr>
      </p:sp>
      <p:sp>
        <p:nvSpPr>
          <p:cNvPr id="9" name="Headcount badge"/>
          <p:cNvSpPr/>
          <p:nvPr/>
        </p:nvSpPr>
        <p:spPr>
          <a:xfrm>
            <a:off x="4703978" y="23774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Headcoun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835" y="2603297"/>
            <a:ext cx="416966" cy="416966"/>
          </a:xfrm>
          <a:prstGeom prst="rect">
            <a:avLst/>
          </a:prstGeom>
        </p:spPr>
      </p:pic>
      <p:sp>
        <p:nvSpPr>
          <p:cNvPr id="11" name="Headcount heading"/>
          <p:cNvSpPr txBox="1"/>
          <p:nvPr/>
        </p:nvSpPr>
        <p:spPr>
          <a:xfrm>
            <a:off x="4703978" y="342900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Headcount</a:t>
            </a:r>
            <a:endParaRPr lang="en-US" sz="2200" dirty="0"/>
          </a:p>
        </p:txBody>
      </p:sp>
      <p:sp>
        <p:nvSpPr>
          <p:cNvPr id="12" name="Headcount prompt"/>
          <p:cNvSpPr txBox="1"/>
          <p:nvPr/>
        </p:nvSpPr>
        <p:spPr>
          <a:xfrm>
            <a:off x="4703978" y="397764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Does the agency of the future get smaller, or just different?</a:t>
            </a:r>
            <a:endParaRPr lang="en-US" sz="1600" dirty="0"/>
          </a:p>
        </p:txBody>
      </p:sp>
      <p:sp>
        <p:nvSpPr>
          <p:cNvPr id="13" name="Service mix card"/>
          <p:cNvSpPr/>
          <p:nvPr/>
        </p:nvSpPr>
        <p:spPr>
          <a:xfrm>
            <a:off x="8127797" y="2011680"/>
            <a:ext cx="3515258" cy="3200400"/>
          </a:xfrm>
          <a:prstGeom prst="roundRect">
            <a:avLst>
              <a:gd name="adj" fmla="val 2286"/>
            </a:avLst>
          </a:prstGeom>
          <a:solidFill>
            <a:schemeClr val="accent2"/>
          </a:solidFill>
          <a:ln/>
        </p:spPr>
      </p:sp>
      <p:sp>
        <p:nvSpPr>
          <p:cNvPr id="14" name="Service mix badge"/>
          <p:cNvSpPr/>
          <p:nvPr/>
        </p:nvSpPr>
        <p:spPr>
          <a:xfrm>
            <a:off x="8493557" y="23774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Service mix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9414" y="2603297"/>
            <a:ext cx="416966" cy="416966"/>
          </a:xfrm>
          <a:prstGeom prst="rect">
            <a:avLst/>
          </a:prstGeom>
        </p:spPr>
      </p:pic>
      <p:sp>
        <p:nvSpPr>
          <p:cNvPr id="16" name="Service mix heading"/>
          <p:cNvSpPr txBox="1"/>
          <p:nvPr/>
        </p:nvSpPr>
        <p:spPr>
          <a:xfrm>
            <a:off x="8493557" y="342900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Service mix</a:t>
            </a:r>
            <a:endParaRPr lang="en-US" sz="2200" dirty="0"/>
          </a:p>
        </p:txBody>
      </p:sp>
      <p:sp>
        <p:nvSpPr>
          <p:cNvPr id="17" name="Service mix prompt"/>
          <p:cNvSpPr txBox="1"/>
          <p:nvPr/>
        </p:nvSpPr>
        <p:spPr>
          <a:xfrm>
            <a:off x="8493557" y="397764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Which services grow, which shrink, and which are new?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rt panel" descr="/tmp/claude-0/-home-user/f0b8d7e9-8864-5767-a36d-0d6d052ee69f/scratchpad/deck2/assets/panel_ring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2064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1"/>
                </a:solidFill>
              </a:rPr>
              <a:t>TOPIC 04</a:t>
            </a:r>
            <a:endParaRPr lang="en-US" sz="16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120640" y="2377440"/>
            <a:ext cx="64309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What Agency Owners Get Wrong About AI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502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accent1"/>
                </a:solidFill>
              </a:rPr>
              <a:t>Common Mistakes, and Where to Focus Instead</a:t>
            </a:r>
            <a:endParaRPr lang="en-US" sz="3400" dirty="0"/>
          </a:p>
        </p:txBody>
      </p:sp>
      <p:sp>
        <p:nvSpPr>
          <p:cNvPr id="3" name="What owners get wrong card"/>
          <p:cNvSpPr/>
          <p:nvPr/>
        </p:nvSpPr>
        <p:spPr>
          <a:xfrm>
            <a:off x="548640" y="2011680"/>
            <a:ext cx="5410048" cy="3200400"/>
          </a:xfrm>
          <a:prstGeom prst="roundRect">
            <a:avLst>
              <a:gd name="adj" fmla="val 2286"/>
            </a:avLst>
          </a:prstGeom>
          <a:solidFill>
            <a:schemeClr val="accent2"/>
          </a:solidFill>
          <a:ln/>
        </p:spPr>
      </p:sp>
      <p:sp>
        <p:nvSpPr>
          <p:cNvPr id="4" name="What owners get wrong badge"/>
          <p:cNvSpPr/>
          <p:nvPr/>
        </p:nvSpPr>
        <p:spPr>
          <a:xfrm>
            <a:off x="914400" y="23774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What owners get wrong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257" y="2603297"/>
            <a:ext cx="416966" cy="416966"/>
          </a:xfrm>
          <a:prstGeom prst="rect">
            <a:avLst/>
          </a:prstGeom>
        </p:spPr>
      </p:pic>
      <p:sp>
        <p:nvSpPr>
          <p:cNvPr id="6" name="What owners get wrong heading"/>
          <p:cNvSpPr txBox="1"/>
          <p:nvPr/>
        </p:nvSpPr>
        <p:spPr>
          <a:xfrm>
            <a:off x="914400" y="342900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What owners get wrong</a:t>
            </a:r>
            <a:endParaRPr lang="en-US" sz="2200" dirty="0"/>
          </a:p>
        </p:txBody>
      </p:sp>
      <p:sp>
        <p:nvSpPr>
          <p:cNvPr id="7" name="What owners get wrong prompt"/>
          <p:cNvSpPr txBox="1"/>
          <p:nvPr/>
        </p:nvSpPr>
        <p:spPr>
          <a:xfrm>
            <a:off x="914400" y="3977640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Where are agency owners misreading AI, or spending effort in the wrong place?</a:t>
            </a:r>
            <a:endParaRPr lang="en-US" sz="1600" dirty="0"/>
          </a:p>
        </p:txBody>
      </p:sp>
      <p:sp>
        <p:nvSpPr>
          <p:cNvPr id="8" name="What to focus on instead card"/>
          <p:cNvSpPr/>
          <p:nvPr/>
        </p:nvSpPr>
        <p:spPr>
          <a:xfrm>
            <a:off x="6233008" y="2011680"/>
            <a:ext cx="5410048" cy="3200400"/>
          </a:xfrm>
          <a:prstGeom prst="roundRect">
            <a:avLst>
              <a:gd name="adj" fmla="val 2286"/>
            </a:avLst>
          </a:prstGeom>
          <a:solidFill>
            <a:schemeClr val="accent2"/>
          </a:solidFill>
          <a:ln/>
        </p:spPr>
      </p:sp>
      <p:sp>
        <p:nvSpPr>
          <p:cNvPr id="9" name="What to focus on instead badge"/>
          <p:cNvSpPr/>
          <p:nvPr/>
        </p:nvSpPr>
        <p:spPr>
          <a:xfrm>
            <a:off x="6598768" y="23774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What to focus on instea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4624" y="2603297"/>
            <a:ext cx="416966" cy="416966"/>
          </a:xfrm>
          <a:prstGeom prst="rect">
            <a:avLst/>
          </a:prstGeom>
        </p:spPr>
      </p:pic>
      <p:sp>
        <p:nvSpPr>
          <p:cNvPr id="11" name="What to focus on instead heading"/>
          <p:cNvSpPr txBox="1"/>
          <p:nvPr/>
        </p:nvSpPr>
        <p:spPr>
          <a:xfrm>
            <a:off x="6598768" y="342900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What to focus on instead</a:t>
            </a:r>
            <a:endParaRPr lang="en-US" sz="2200" dirty="0"/>
          </a:p>
        </p:txBody>
      </p:sp>
      <p:sp>
        <p:nvSpPr>
          <p:cNvPr id="12" name="What to focus on instead prompt"/>
          <p:cNvSpPr txBox="1"/>
          <p:nvPr/>
        </p:nvSpPr>
        <p:spPr>
          <a:xfrm>
            <a:off x="6598768" y="3977640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What should owners prioritise now to be well placed in five years?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0" kern="0" dirty="0">
                <a:solidFill>
                  <a:schemeClr val="accent1"/>
                </a:solidFill>
              </a:rPr>
              <a:t>Q&amp;A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9202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YOUR QUESTIONS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546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Ask in the chat or the Q&amp;A panel</a:t>
            </a:r>
            <a:endParaRPr lang="en-US" sz="2000" dirty="0"/>
          </a:p>
        </p:txBody>
      </p:sp>
      <p:sp>
        <p:nvSpPr>
          <p:cNvPr id="5" name="Q&amp;A badge"/>
          <p:cNvSpPr/>
          <p:nvPr/>
        </p:nvSpPr>
        <p:spPr>
          <a:xfrm>
            <a:off x="640080" y="402336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Q&amp;A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4261104"/>
            <a:ext cx="438912" cy="438912"/>
          </a:xfrm>
          <a:prstGeom prst="rect">
            <a:avLst/>
          </a:prstGeom>
        </p:spPr>
      </p:pic>
      <p:pic>
        <p:nvPicPr>
          <p:cNvPr id="7" name="Image 1" descr="/tmp/claude-0/-home-user/f0b8d7e9-8864-5767-a36d-0d6d052ee69f/scratchpad/deck2/assets/logo_cle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6172200"/>
            <a:ext cx="640080" cy="53492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502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accent1"/>
                </a:solidFill>
              </a:rPr>
              <a:t>Thank You for Joining</a:t>
            </a:r>
            <a:endParaRPr lang="en-US" sz="3400" dirty="0"/>
          </a:p>
        </p:txBody>
      </p:sp>
      <p:pic>
        <p:nvPicPr>
          <p:cNvPr id="3" name="Dan Hinckley photo" descr="Dan Hinckl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2560320" cy="2560320"/>
          </a:xfrm>
          <a:prstGeom prst="rect">
            <a:avLst/>
          </a:prstGeom>
        </p:spPr>
      </p:pic>
      <p:pic>
        <p:nvPicPr>
          <p:cNvPr id="4" name="Rob Coleman photo" descr="Rob Cole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645920"/>
            <a:ext cx="2560320" cy="2560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0080" y="43434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Dan Hinckley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Herringbone</a:t>
            </a:r>
            <a:endParaRPr lang="en-US" sz="1600" dirty="0"/>
          </a:p>
        </p:txBody>
      </p:sp>
      <p:sp>
        <p:nvSpPr>
          <p:cNvPr id="6" name="Text 2"/>
          <p:cNvSpPr txBox="1"/>
          <p:nvPr/>
        </p:nvSpPr>
        <p:spPr>
          <a:xfrm>
            <a:off x="3291840" y="43434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Rob Coleman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Hennessey Digital</a:t>
            </a:r>
            <a:endParaRPr lang="en-US" sz="1600" dirty="0"/>
          </a:p>
        </p:txBody>
      </p:sp>
      <p:pic>
        <p:nvPicPr>
          <p:cNvPr id="7" name="Hennessey Digital logo" descr="/tmp/claude-0/-home-user/f0b8d7e9-8864-5767-a36d-0d6d052ee69f/scratchpad/deck2/assets/logo_cle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554480"/>
            <a:ext cx="2926080" cy="2441448"/>
          </a:xfrm>
          <a:prstGeom prst="rect">
            <a:avLst/>
          </a:prstGeom>
        </p:spPr>
      </p:pic>
      <p:sp>
        <p:nvSpPr>
          <p:cNvPr id="8" name="Website button"/>
          <p:cNvSpPr/>
          <p:nvPr/>
        </p:nvSpPr>
        <p:spPr>
          <a:xfrm>
            <a:off x="7269480" y="4343400"/>
            <a:ext cx="2834640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/>
        </p:spPr>
      </p:sp>
      <p:sp>
        <p:nvSpPr>
          <p:cNvPr id="9" name="Text 4">
            <a:hlinkClick r:id="rId4" tooltip=""/>
          </p:cNvPr>
          <p:cNvSpPr txBox="1"/>
          <p:nvPr/>
        </p:nvSpPr>
        <p:spPr>
          <a:xfrm>
            <a:off x="7269480" y="43434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hennessey.com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ennessey Digital Webinar">
  <a:themeElements>
    <a:clrScheme name="Hennessey Digital Webinar">
      <a:dk1>
        <a:srgbClr val="0E1A24"/>
      </a:dk1>
      <a:lt1>
        <a:srgbClr val="FFFFFF"/>
      </a:lt1>
      <a:dk2>
        <a:srgbClr val="08141C"/>
      </a:dk2>
      <a:lt2>
        <a:srgbClr val="9FB0BB"/>
      </a:lt2>
      <a:accent1>
        <a:srgbClr val="02B5E6"/>
      </a:accent1>
      <a:accent2>
        <a:srgbClr val="F2F5F7"/>
      </a:accent2>
      <a:accent3>
        <a:srgbClr val="0089AF"/>
      </a:accent3>
      <a:accent4>
        <a:srgbClr val="5E6E79"/>
      </a:accent4>
      <a:accent5>
        <a:srgbClr val="7FD8F2"/>
      </a:accent5>
      <a:accent6>
        <a:srgbClr val="D9F3FB"/>
      </a:accent6>
      <a:hlink>
        <a:srgbClr val="02B5E6"/>
      </a:hlink>
      <a:folHlink>
        <a:srgbClr val="7FD8F2"/>
      </a:folHlink>
    </a:clrScheme>
    <a:fontScheme name="Hennessey Digital Webina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Hennessey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and the Agency of the Future</dc:title>
  <dc:subject>PptxGenJS Presentation</dc:subject>
  <dc:creator>PptxGenJS</dc:creator>
  <cp:lastModifiedBy>PptxGenJS</cp:lastModifiedBy>
  <cp:revision>1</cp:revision>
  <dcterms:created xsi:type="dcterms:W3CDTF">2026-10-13T10:21:45Z</dcterms:created>
  <dcterms:modified xsi:type="dcterms:W3CDTF">2026-10-13T10:21:45Z</dcterms:modified>
</cp:coreProperties>
</file>